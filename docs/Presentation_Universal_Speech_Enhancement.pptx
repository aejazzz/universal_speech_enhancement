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02124"/>
                </a:solidFill>
                <a:latin typeface="Segoe UI"/>
              </a:rPr>
              <a:t>Universal Speech Enhancement</a:t>
            </a:r>
          </a:p>
          <a:p>
            <a:pPr>
              <a:spcBef>
                <a:spcPts val="1200"/>
              </a:spcBef>
            </a:pPr>
            <a:r>
              <a:rPr sz="1600" b="0">
                <a:solidFill>
                  <a:srgbClr val="5F6368"/>
                </a:solidFill>
                <a:latin typeface="Segoe UI"/>
              </a:rPr>
              <a:t>Policy learning · multi-expert routing · DNSMOS-driven selection
Frozen WavLM + dynamic speculate-and-measure · FastAPI + React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1A73E8"/>
                </a:solidFill>
                <a:latin typeface="Segoe UI"/>
              </a:rPr>
              <a:t>github.com/Aejazzz/universal_speech_enhancement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02124"/>
                </a:solidFill>
                <a:latin typeface="Segoe UI"/>
              </a:rPr>
              <a:t>Problem &amp;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241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5F6368"/>
                </a:solidFill>
                <a:latin typeface="Segoe UI"/>
              </a:rPr>
              <a:t>Real-world noisy speech: one fixed denoiser rarely fits all distortions.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F6368"/>
                </a:solidFill>
                <a:latin typeface="Segoe UI"/>
              </a:rPr>
              <a:t>Mixture-of-experts: neural models (DeepFilterNet3, optional MossFormer2 / Resemble) plus classical FFT baselines.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F6368"/>
                </a:solidFill>
                <a:latin typeface="Segoe UI"/>
              </a:rPr>
              <a:t>Trained router (WavLM + MLP) suggests expert and strength; dynamic router scores every active candidate with DNSMOS P.835 (+ UTMOS when reliable).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F6368"/>
                </a:solidFill>
                <a:latin typeface="Segoe UI"/>
              </a:rPr>
              <a:t>"Do no harm" margin keeps BYPASS when improvement is marginal.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02124"/>
                </a:solidFill>
                <a:latin typeface="Segoe UI"/>
              </a:rPr>
              <a:t>End-to-end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241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5F6368"/>
                </a:solidFill>
                <a:latin typeface="Segoe UI"/>
              </a:rPr>
              <a:t>Load &amp; resample → 16 kHz mono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F6368"/>
                </a:solidFill>
                <a:latin typeface="Segoe UI"/>
              </a:rPr>
              <a:t>Preprocess: DC removal, 60 Hz HPF, ITU-R BS.1770 loudness (−23 LUFS)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F6368"/>
                </a:solidFill>
                <a:latin typeface="Segoe UI"/>
              </a:rPr>
              <a:t>Distortion analyzer (CRNN on log-mel) → 6-D features for policy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F6368"/>
                </a:solidFill>
                <a:latin typeface="Segoe UI"/>
              </a:rPr>
              <a:t>Policy: frozen WavLM-base-plus, multi-layer pool → expert, strength, refine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F6368"/>
                </a:solidFill>
                <a:latin typeface="Segoe UI"/>
              </a:rPr>
              <a:t>Dynamic routing (optional): sweep strengths per expert → rank by DNSMOS blend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F6368"/>
                </a:solidFill>
                <a:latin typeface="Segoe UI"/>
              </a:rPr>
              <a:t>Brick-wall limiter −1 dBFS → metrics (DNSMOS, PESQ, STOI, SI-SDR) + plots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02124"/>
                </a:solidFill>
                <a:latin typeface="Segoe UI"/>
              </a:rPr>
              <a:t>Architecture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73E8"/>
                </a:solidFill>
                <a:latin typeface="Segoe UI"/>
              </a:rPr>
              <a:t>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49377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F6368"/>
                </a:solidFill>
                <a:latin typeface="Segoe UI"/>
              </a:rPr>
              <a:t>Frontend: React, Tailwind, Vite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F6368"/>
                </a:solidFill>
                <a:latin typeface="Segoe UI"/>
              </a:rPr>
              <a:t>Backend: FastAPI, uvicorn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F6368"/>
                </a:solidFill>
                <a:latin typeface="Segoe UI"/>
              </a:rPr>
              <a:t>Core: PyTorch, speechmos (DNSMOS), transformers (WavLM)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2344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73E8"/>
                </a:solidFill>
                <a:latin typeface="Segoe UI"/>
              </a:rPr>
              <a:t>Artifacts per 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600200"/>
            <a:ext cx="49377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F6368"/>
                </a:solidFill>
                <a:latin typeface="Segoe UI"/>
              </a:rPr>
              <a:t>enhanced.wav, metrics.json, routing.json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F6368"/>
                </a:solidFill>
                <a:latin typeface="Segoe UI"/>
              </a:rPr>
              <a:t>Waveform / spectrogram / policy probability PNGs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F6368"/>
                </a:solidFill>
                <a:latin typeface="Segoe UI"/>
              </a:rPr>
              <a:t>Full dynamic candidate leaderboard in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2124"/>
                </a:solidFill>
                <a:latin typeface="Segoe UI"/>
              </a:rPr>
              <a:t>Blind evaluation — 100 clips (URGENT validation noisy set)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234440"/>
          <a:ext cx="1097280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3760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  <a:latin typeface="Segoe UI"/>
                        </a:rP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  <a:latin typeface="Segoe UI"/>
                        </a:rPr>
                        <a:t>Value</a:t>
                      </a:r>
                    </a:p>
                  </a:txBody>
                  <a:tcPr/>
                </a:tc>
              </a:tr>
              <a:tr h="43760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368"/>
                          </a:solidFill>
                          <a:latin typeface="Segoe UI"/>
                        </a:rPr>
                        <a:t>Files processed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368"/>
                          </a:solidFill>
                          <a:latin typeface="Segoe UI"/>
                        </a:rPr>
                        <a:t>100</a:t>
                      </a:r>
                    </a:p>
                  </a:txBody>
                  <a:tcPr/>
                </a:tc>
              </a:tr>
              <a:tr h="43760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368"/>
                          </a:solidFill>
                          <a:latin typeface="Segoe UI"/>
                        </a:rPr>
                        <a:t>Mean ΔDNSMOS (OVRL)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368"/>
                          </a:solidFill>
                          <a:latin typeface="Segoe UI"/>
                        </a:rPr>
                        <a:t>+0.72</a:t>
                      </a:r>
                    </a:p>
                  </a:txBody>
                  <a:tcPr/>
                </a:tc>
              </a:tr>
              <a:tr h="43760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368"/>
                          </a:solidFill>
                          <a:latin typeface="Segoe UI"/>
                        </a:rPr>
                        <a:t>Mean ΔSIG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368"/>
                          </a:solidFill>
                          <a:latin typeface="Segoe UI"/>
                        </a:rPr>
                        <a:t>+0.56</a:t>
                      </a:r>
                    </a:p>
                  </a:txBody>
                  <a:tcPr/>
                </a:tc>
              </a:tr>
              <a:tr h="43760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368"/>
                          </a:solidFill>
                          <a:latin typeface="Segoe UI"/>
                        </a:rPr>
                        <a:t>Mean ΔBAK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368"/>
                          </a:solidFill>
                          <a:latin typeface="Segoe UI"/>
                        </a:rPr>
                        <a:t>+1.54</a:t>
                      </a:r>
                    </a:p>
                  </a:txBody>
                  <a:tcPr/>
                </a:tc>
              </a:tr>
              <a:tr h="43760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368"/>
                          </a:solidFill>
                          <a:latin typeface="Segoe UI"/>
                        </a:rPr>
                        <a:t>Chosen = top 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368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/>
                </a:tc>
              </a:tr>
              <a:tr h="43761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368"/>
                          </a:solidFill>
                          <a:latin typeface="Segoe UI"/>
                        </a:rPr>
                        <a:t>Pareto-dominated picks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368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2124"/>
                </a:solidFill>
                <a:latin typeface="Segoe UI"/>
              </a:rPr>
              <a:t>Routing distribution (mean ΔDNSMOS by chosen expert)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234440"/>
          <a:ext cx="109728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419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  <a:latin typeface="Segoe UI"/>
                        </a:rPr>
                        <a:t>Expert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  <a:latin typeface="Segoe UI"/>
                        </a:rPr>
                        <a:t>Clips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  <a:latin typeface="Segoe UI"/>
                        </a:rPr>
                        <a:t>Mean ΔOVRL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  <a:latin typeface="Segoe UI"/>
                        </a:rPr>
                        <a:t>Mean ΔSIG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  <a:latin typeface="Segoe UI"/>
                        </a:rPr>
                        <a:t>Mean ΔBAK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368"/>
                          </a:solidFill>
                          <a:latin typeface="Segoe UI"/>
                        </a:rPr>
                        <a:t>DeepFilterNet3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368"/>
                          </a:solidFill>
                          <a:latin typeface="Segoe UI"/>
                        </a:rPr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368"/>
                          </a:solidFill>
                          <a:latin typeface="Segoe UI"/>
                        </a:rPr>
                        <a:t>+0.74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368"/>
                          </a:solidFill>
                          <a:latin typeface="Segoe UI"/>
                        </a:rPr>
                        <a:t>+0.47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368"/>
                          </a:solidFill>
                          <a:latin typeface="Segoe UI"/>
                        </a:rPr>
                        <a:t>+1.60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368"/>
                          </a:solidFill>
                          <a:latin typeface="Segoe UI"/>
                        </a:rPr>
                        <a:t>NoiseReduce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368"/>
                          </a:solidFill>
                          <a:latin typeface="Segoe UI"/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368"/>
                          </a:solidFill>
                          <a:latin typeface="Segoe UI"/>
                        </a:rPr>
                        <a:t>+0.58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368"/>
                          </a:solidFill>
                          <a:latin typeface="Segoe UI"/>
                        </a:rPr>
                        <a:t>+0.27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368"/>
                          </a:solidFill>
                          <a:latin typeface="Segoe UI"/>
                        </a:rPr>
                        <a:t>+1.40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368"/>
                          </a:solidFill>
                          <a:latin typeface="Segoe UI"/>
                        </a:rPr>
                        <a:t>WienerFilter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36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368"/>
                          </a:solidFill>
                          <a:latin typeface="Segoe UI"/>
                        </a:rPr>
                        <a:t>+1.01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368"/>
                          </a:solidFill>
                          <a:latin typeface="Segoe UI"/>
                        </a:rPr>
                        <a:t>+1.51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368"/>
                          </a:solidFill>
                          <a:latin typeface="Segoe UI"/>
                        </a:rPr>
                        <a:t>+1.64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368"/>
                          </a:solidFill>
                          <a:latin typeface="Segoe UI"/>
                        </a:rPr>
                        <a:t>SpectralSubtraction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36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368"/>
                          </a:solidFill>
                          <a:latin typeface="Segoe UI"/>
                        </a:rPr>
                        <a:t>+0.55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368"/>
                          </a:solidFill>
                          <a:latin typeface="Segoe UI"/>
                        </a:rPr>
                        <a:t>+0.84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368"/>
                          </a:solidFill>
                          <a:latin typeface="Segoe UI"/>
                        </a:rPr>
                        <a:t>+1.38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368"/>
                          </a:solidFill>
                          <a:latin typeface="Segoe UI"/>
                        </a:rPr>
                        <a:t>SpectralGate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36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368"/>
                          </a:solidFill>
                          <a:latin typeface="Segoe UI"/>
                        </a:rPr>
                        <a:t>+0.89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368"/>
                          </a:solidFill>
                          <a:latin typeface="Segoe UI"/>
                        </a:rPr>
                        <a:t>+1.14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F6368"/>
                          </a:solidFill>
                          <a:latin typeface="Segoe UI"/>
                        </a:rPr>
                        <a:t>+1.49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2124"/>
                </a:solidFill>
                <a:latin typeface="Segoe UI"/>
              </a:rPr>
              <a:t>Results: routing distribution</a:t>
            </a:r>
          </a:p>
        </p:txBody>
      </p:sp>
      <p:pic>
        <p:nvPicPr>
          <p:cNvPr id="4" name="Picture 3" descr="01_routing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143000"/>
            <a:ext cx="10058400" cy="43190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2124"/>
                </a:solidFill>
                <a:latin typeface="Segoe UI"/>
              </a:rPr>
              <a:t>Results: expert leaderboard (mean deltas)</a:t>
            </a:r>
          </a:p>
        </p:txBody>
      </p:sp>
      <p:pic>
        <p:nvPicPr>
          <p:cNvPr id="4" name="Picture 3" descr="03_expert_leader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411" y="1143000"/>
            <a:ext cx="5938872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2124"/>
                </a:solidFill>
                <a:latin typeface="Segoe UI"/>
              </a:rPr>
              <a:t>Results: noisy vs enhanced DNSMOS (OVRL)</a:t>
            </a:r>
          </a:p>
        </p:txBody>
      </p:sp>
      <p:pic>
        <p:nvPicPr>
          <p:cNvPr id="4" name="Picture 3" descr="04_orig_vs_enhanced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3331" y="1143000"/>
            <a:ext cx="4385032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02124"/>
                </a:solidFill>
                <a:latin typeface="Segoe U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241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5F6368"/>
                </a:solidFill>
                <a:latin typeface="Segoe UI"/>
              </a:rPr>
              <a:t>Windows: pwsh -File scripts/start_demo.ps1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F6368"/>
                </a:solidFill>
                <a:latin typeface="Segoe UI"/>
              </a:rPr>
              <a:t>Backend http://127.0.0.1:8001/health · Frontend http://127.0.0.1:5173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F6368"/>
                </a:solidFill>
                <a:latin typeface="Segoe UI"/>
              </a:rPr>
              <a:t>Upload .wav / .flac / .mp3 → Enhance Audio → scorecard, leaderboard, A/B audio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F6368"/>
                </a:solidFill>
                <a:latin typeface="Segoe UI"/>
              </a:rPr>
              <a:t>Batch eval: python scripts/eval_blind_batch.py --input-dir &lt;noisy_folder&gt; --resume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02124"/>
                </a:solidFill>
                <a:latin typeface="Segoe UI"/>
              </a:rPr>
              <a:t>Notes for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241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5F6368"/>
                </a:solidFill>
                <a:latin typeface="Segoe UI"/>
              </a:rPr>
              <a:t>UTMOS22 may fall back to heuristic if torch.hub conflicts with speechmos; router then uses DNSMOS-only blend (utmos_reliable=False).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F6368"/>
                </a:solidFill>
                <a:latin typeface="Segoe UI"/>
              </a:rPr>
              <a:t>SOTA comparison bars in plots are illustrative — cite papers/leaderboards for publication.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F6368"/>
                </a:solidFill>
                <a:latin typeface="Segoe UI"/>
              </a:rPr>
              <a:t>See README.md and DEMO.md for full architecture, API schema, and training pipeline.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